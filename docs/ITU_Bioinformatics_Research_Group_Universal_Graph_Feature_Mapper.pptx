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8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2"/>
          </a:solidFill>
          <a:ln w="12700">
            <a:solidFill>
              <a:srgbClr val="08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24445F">
                <a:alpha val="90000"/>
              </a:srgbClr>
            </a:solidFill>
            <a:prstDash val="solid"/>
          </a:ln>
        </p:spPr>
      </p:sp>
      <p:pic>
        <p:nvPicPr>
          <p:cNvPr id="4" name="Image 0" descr="/mnt/data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94607"/>
            <a:ext cx="3657600" cy="13699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240280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Universal Graph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Mapper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58368" y="372160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D6E2"/>
                </a:solidFill>
              </a:rPr>
              <a:t>Implementation strategy for mapping omics identifiers onto a UniProt-centric biological graph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" y="4315968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16A6D9">
              <a:alpha val="17000"/>
            </a:srgbClr>
          </a:solidFill>
          <a:ln w="10160">
            <a:solidFill>
              <a:srgbClr val="16A6D9">
                <a:alpha val="8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4384548"/>
            <a:ext cx="2295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İTU Bioinformatics Research Group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383280" y="4315968"/>
            <a:ext cx="3017520" cy="310896"/>
          </a:xfrm>
          <a:prstGeom prst="roundRect">
            <a:avLst>
              <a:gd name="adj" fmla="val 23529"/>
            </a:avLst>
          </a:prstGeom>
          <a:solidFill>
            <a:srgbClr val="2EE5C0">
              <a:alpha val="17000"/>
            </a:srgbClr>
          </a:solidFill>
          <a:ln w="10160">
            <a:solidFill>
              <a:srgbClr val="2EE5C0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93008" y="4384548"/>
            <a:ext cx="2798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Offline · deterministic · provenance-preserving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8368" y="6355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A7"/>
                </a:solidFill>
              </a:rPr>
              <a:t>Clean technical overview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2"/>
          </a:solidFill>
          <a:ln w="12700">
            <a:solidFill>
              <a:srgbClr val="08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24445F">
                <a:alpha val="90000"/>
              </a:srgbClr>
            </a:solidFill>
            <a:prstDash val="solid"/>
          </a:ln>
        </p:spPr>
      </p:sp>
      <p:pic>
        <p:nvPicPr>
          <p:cNvPr id="4" name="Image 0" descr="/mnt/data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75916"/>
            <a:ext cx="1993392" cy="74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638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İTU Bioinformatics Research Group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40080" y="6217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58368" y="11704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Omics matrices use mixed identifiers, but graph models need exact vertices.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1920240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0D1E31"/>
          </a:solidFill>
          <a:ln w="15240">
            <a:solidFill>
              <a:srgbClr val="16A6D9">
                <a:alpha val="9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2011680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Omics columns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ENSG · HGNC · UniProt · graph IDs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17720" y="1920240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0D1E31"/>
          </a:solidFill>
          <a:ln w="15240">
            <a:solidFill>
              <a:srgbClr val="2EE5C0">
                <a:alpha val="9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011680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Universal graph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UniProt-centric vertex IDs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412480" y="1920240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0D1E31"/>
          </a:solidFill>
          <a:ln w="15240">
            <a:solidFill>
              <a:srgbClr val="5EE28D">
                <a:alpha val="9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22208" y="2011680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Model-ready features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Measurements on correct nodes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749040" y="2423160"/>
            <a:ext cx="731520" cy="0"/>
          </a:xfrm>
          <a:prstGeom prst="line">
            <a:avLst/>
          </a:prstGeom>
          <a:noFill/>
          <a:ln w="21590">
            <a:solidFill>
              <a:srgbClr val="16A6D9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543800" y="2423160"/>
            <a:ext cx="731520" cy="0"/>
          </a:xfrm>
          <a:prstGeom prst="line">
            <a:avLst/>
          </a:prstGeom>
          <a:noFill/>
          <a:ln w="21590">
            <a:solidFill>
              <a:srgbClr val="2EE5C0"/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960120" y="3913632"/>
            <a:ext cx="102412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mapper attaches each feature column to a valid vertex ID, so downstream graph pruning and model building use the correct biological node.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2011680" y="4736592"/>
            <a:ext cx="8138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non-uniform columns within the same file</a:t>
            </a:r>
            <a:endParaRPr lang="en-US" sz="1450" dirty="0"/>
          </a:p>
          <a:p>
            <a:r>
              <a:rPr lang="en-US" sz="14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Preserves one-to-many mappings instead of forcing collapse</a:t>
            </a:r>
            <a:endParaRPr lang="en-US" sz="1450" dirty="0"/>
          </a:p>
          <a:p>
            <a:r>
              <a:rPr lang="en-US" sz="14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how each mapping was derived or why it failed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2"/>
          </a:solidFill>
          <a:ln w="12700">
            <a:solidFill>
              <a:srgbClr val="08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24445F">
                <a:alpha val="90000"/>
              </a:srgbClr>
            </a:solidFill>
            <a:prstDash val="solid"/>
          </a:ln>
        </p:spPr>
      </p:sp>
      <p:pic>
        <p:nvPicPr>
          <p:cNvPr id="4" name="Image 0" descr="/mnt/data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75916"/>
            <a:ext cx="1993392" cy="74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638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İTU Bioinformatics Research Group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40080" y="6217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UniProt-centered graph schema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58368" y="11704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Vertex naming follows a small suffix contract.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051560" y="187452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0D1E31"/>
          </a:solidFill>
          <a:ln w="15240">
            <a:solidFill>
              <a:srgbClr val="16A6D9">
                <a:alpha val="9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61288" y="1965960"/>
            <a:ext cx="2615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Gene node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Q07973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0D1E31"/>
          </a:solidFill>
          <a:ln w="15240">
            <a:solidFill>
              <a:srgbClr val="2EE5C0">
                <a:alpha val="9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18888" y="1965960"/>
            <a:ext cx="2615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Transcript node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Q07973_transcript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366760" y="187452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0D1E31"/>
          </a:solidFill>
          <a:ln w="15240">
            <a:solidFill>
              <a:srgbClr val="5EE28D">
                <a:alpha val="9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76488" y="1965960"/>
            <a:ext cx="2615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Protein node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Q07973_protein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011680" y="3794760"/>
            <a:ext cx="8138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Suffix rules are centralized in graph_schema.SUFFIX_NODE_TYPES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286000" y="4526280"/>
            <a:ext cx="74980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 vertices use bare UniProt accessions</a:t>
            </a:r>
            <a:endParaRPr lang="en-US" sz="1500" dirty="0"/>
          </a:p>
          <a:p>
            <a:r>
              <a:rPr lang="en-US" sz="150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Transcript and protein vertices append typed suffixes</a:t>
            </a:r>
            <a:endParaRPr lang="en-US" sz="1500" dirty="0"/>
          </a:p>
          <a:p>
            <a:r>
              <a:rPr lang="en-US" sz="150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invented nodes: only existing graph vertices are valid outputs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2"/>
          </a:solidFill>
          <a:ln w="12700">
            <a:solidFill>
              <a:srgbClr val="08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24445F">
                <a:alpha val="90000"/>
              </a:srgbClr>
            </a:solidFill>
            <a:prstDash val="solid"/>
          </a:ln>
        </p:spPr>
      </p:sp>
      <p:pic>
        <p:nvPicPr>
          <p:cNvPr id="4" name="Image 0" descr="/mnt/data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75916"/>
            <a:ext cx="1993392" cy="74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638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İTU Bioinformatics Research Group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40080" y="6217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Two-stage mapping strategy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58368" y="11704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exact hits are authoritative; optimized recovery only fills gaps.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143000" y="1828800"/>
            <a:ext cx="3291840" cy="1143000"/>
          </a:xfrm>
          <a:prstGeom prst="roundRect">
            <a:avLst>
              <a:gd name="adj" fmla="val 9600"/>
            </a:avLst>
          </a:prstGeom>
          <a:solidFill>
            <a:srgbClr val="0D1E31"/>
          </a:solidFill>
          <a:ln w="15240">
            <a:solidFill>
              <a:srgbClr val="16A6D9">
                <a:alpha val="9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52728" y="1920240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Stage 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Legacy exact match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663440" y="182880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0B1726"/>
          </a:solidFill>
          <a:ln w="15240">
            <a:solidFill>
              <a:srgbClr val="FFB84D">
                <a:alpha val="9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3168" y="1920240"/>
            <a:ext cx="2432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Unmapped remainder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543800" y="1828800"/>
            <a:ext cx="3291840" cy="1143000"/>
          </a:xfrm>
          <a:prstGeom prst="roundRect">
            <a:avLst>
              <a:gd name="adj" fmla="val 9600"/>
            </a:avLst>
          </a:prstGeom>
          <a:solidFill>
            <a:srgbClr val="0D1E31"/>
          </a:solidFill>
          <a:ln w="15240">
            <a:solidFill>
              <a:srgbClr val="2EE5C0">
                <a:alpha val="9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53528" y="1920240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Stage B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Optimized recovery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526280" y="2395728"/>
            <a:ext cx="91440" cy="0"/>
          </a:xfrm>
          <a:prstGeom prst="line">
            <a:avLst/>
          </a:prstGeom>
          <a:noFill/>
          <a:ln w="21590">
            <a:solidFill>
              <a:srgbClr val="16A6D9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360920" y="2395728"/>
            <a:ext cx="137160" cy="0"/>
          </a:xfrm>
          <a:prstGeom prst="line">
            <a:avLst/>
          </a:prstGeom>
          <a:noFill/>
          <a:ln w="2159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1143000" y="3858768"/>
            <a:ext cx="1463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43000" y="4224528"/>
            <a:ext cx="9875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valid legacy hit is never overwritten by optimized recovery.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1143000" y="4983480"/>
            <a:ext cx="9509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legacy: Stage A only</a:t>
            </a:r>
            <a:endParaRPr lang="en-US" sz="1450" dirty="0"/>
          </a:p>
          <a:p>
            <a:r>
              <a:rPr lang="en-US" sz="14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optimized: Stage A, then Stage B on remaining columns</a:t>
            </a:r>
            <a:endParaRPr lang="en-US" sz="1450" dirty="0"/>
          </a:p>
          <a:p>
            <a:r>
              <a:rPr lang="en-US" sz="14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compare: optimized output plus per-strategy coverage frames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2"/>
          </a:solidFill>
          <a:ln w="12700">
            <a:solidFill>
              <a:srgbClr val="08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24445F">
                <a:alpha val="90000"/>
              </a:srgbClr>
            </a:solidFill>
            <a:prstDash val="solid"/>
          </a:ln>
        </p:spPr>
      </p:sp>
      <p:pic>
        <p:nvPicPr>
          <p:cNvPr id="4" name="Image 0" descr="/mnt/data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75916"/>
            <a:ext cx="1993392" cy="74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638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İTU Bioinformatics Research Group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40080" y="6217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A: deterministic exact matching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58368" y="11704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candidate search against the graph entity set.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2240280" cy="822960"/>
          </a:xfrm>
          <a:prstGeom prst="roundRect">
            <a:avLst>
              <a:gd name="adj" fmla="val 13333"/>
            </a:avLst>
          </a:prstGeom>
          <a:solidFill>
            <a:srgbClr val="0D1E31"/>
          </a:solidFill>
          <a:ln w="15240">
            <a:solidFill>
              <a:srgbClr val="16A6D9">
                <a:alpha val="9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920240"/>
            <a:ext cx="2020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raw column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108960" y="2240280"/>
            <a:ext cx="411480" cy="0"/>
          </a:xfrm>
          <a:prstGeom prst="line">
            <a:avLst/>
          </a:prstGeom>
          <a:noFill/>
          <a:ln w="15240">
            <a:solidFill>
              <a:srgbClr val="24445F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657600" y="1828800"/>
            <a:ext cx="2240280" cy="822960"/>
          </a:xfrm>
          <a:prstGeom prst="roundRect">
            <a:avLst>
              <a:gd name="adj" fmla="val 13333"/>
            </a:avLst>
          </a:prstGeom>
          <a:solidFill>
            <a:srgbClr val="0D1E31"/>
          </a:solidFill>
          <a:ln w="15240">
            <a:solidFill>
              <a:srgbClr val="16A6D9">
                <a:alpha val="9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67328" y="1920240"/>
            <a:ext cx="2020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stripped name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943600" y="2240280"/>
            <a:ext cx="411480" cy="0"/>
          </a:xfrm>
          <a:prstGeom prst="line">
            <a:avLst/>
          </a:prstGeom>
          <a:noFill/>
          <a:ln w="15240">
            <a:solidFill>
              <a:srgbClr val="24445F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492240" y="1828800"/>
            <a:ext cx="2240280" cy="822960"/>
          </a:xfrm>
          <a:prstGeom prst="roundRect">
            <a:avLst>
              <a:gd name="adj" fmla="val 13333"/>
            </a:avLst>
          </a:prstGeom>
          <a:solidFill>
            <a:srgbClr val="0D1E31"/>
          </a:solidFill>
          <a:ln w="15240">
            <a:solidFill>
              <a:srgbClr val="2EE5C0">
                <a:alpha val="9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01968" y="1920240"/>
            <a:ext cx="2020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suffix applied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778240" y="2240280"/>
            <a:ext cx="411480" cy="0"/>
          </a:xfrm>
          <a:prstGeom prst="line">
            <a:avLst/>
          </a:prstGeom>
          <a:noFill/>
          <a:ln w="15240">
            <a:solidFill>
              <a:srgbClr val="24445F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326880" y="1828800"/>
            <a:ext cx="2240280" cy="822960"/>
          </a:xfrm>
          <a:prstGeom prst="roundRect">
            <a:avLst>
              <a:gd name="adj" fmla="val 13333"/>
            </a:avLst>
          </a:prstGeom>
          <a:solidFill>
            <a:srgbClr val="0D1E31"/>
          </a:solidFill>
          <a:ln w="15240">
            <a:solidFill>
              <a:srgbClr val="2EE5C0">
                <a:alpha val="92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36608" y="1920240"/>
            <a:ext cx="2020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transcript→gene override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886200" y="3337560"/>
            <a:ext cx="4389120" cy="822960"/>
          </a:xfrm>
          <a:prstGeom prst="roundRect">
            <a:avLst>
              <a:gd name="adj" fmla="val 13333"/>
            </a:avLst>
          </a:prstGeom>
          <a:solidFill>
            <a:srgbClr val="0B1726"/>
          </a:solidFill>
          <a:ln w="15240">
            <a:solidFill>
              <a:srgbClr val="5EE28D">
                <a:alpha val="9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95928" y="3429000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first candidate in graph wins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920240" y="4754880"/>
            <a:ext cx="80467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Covers columns that already name graph vertices</a:t>
            </a:r>
            <a:endParaRPr lang="en-US" sz="1500" dirty="0"/>
          </a:p>
          <a:p>
            <a:r>
              <a:rPr lang="en-US" sz="150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Avoids unnecessary expensive mapping work</a:t>
            </a:r>
            <a:endParaRPr lang="en-US" sz="1500" dirty="0"/>
          </a:p>
          <a:p>
            <a:r>
              <a:rPr lang="en-US" sz="150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stable and reproducible behaviour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2"/>
          </a:solidFill>
          <a:ln w="12700">
            <a:solidFill>
              <a:srgbClr val="08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24445F">
                <a:alpha val="90000"/>
              </a:srgbClr>
            </a:solidFill>
            <a:prstDash val="solid"/>
          </a:ln>
        </p:spPr>
      </p:sp>
      <p:pic>
        <p:nvPicPr>
          <p:cNvPr id="4" name="Image 0" descr="/mnt/data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75916"/>
            <a:ext cx="1993392" cy="74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638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İTU Bioinformatics Research Group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40080" y="6217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Per-column identifier detection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58368" y="11704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is never assumed to be uniform.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2926080" cy="621792"/>
          </a:xfrm>
          <a:prstGeom prst="roundRect">
            <a:avLst>
              <a:gd name="adj" fmla="val 17647"/>
            </a:avLst>
          </a:prstGeom>
          <a:solidFill>
            <a:srgbClr val="0D1E31"/>
          </a:solidFill>
          <a:ln w="15240">
            <a:solidFill>
              <a:srgbClr val="7890A7">
                <a:alpha val="9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920240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EMPTY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0" y="1828800"/>
            <a:ext cx="2926080" cy="621792"/>
          </a:xfrm>
          <a:prstGeom prst="roundRect">
            <a:avLst>
              <a:gd name="adj" fmla="val 17647"/>
            </a:avLst>
          </a:prstGeom>
          <a:solidFill>
            <a:srgbClr val="0D1E31"/>
          </a:solidFill>
          <a:ln w="15240">
            <a:solidFill>
              <a:srgbClr val="16A6D9">
                <a:alpha val="9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81728" y="1920240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UNIPROT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321040" y="1828800"/>
            <a:ext cx="2926080" cy="621792"/>
          </a:xfrm>
          <a:prstGeom prst="roundRect">
            <a:avLst>
              <a:gd name="adj" fmla="val 17647"/>
            </a:avLst>
          </a:prstGeom>
          <a:solidFill>
            <a:srgbClr val="0D1E31"/>
          </a:solidFill>
          <a:ln w="15240">
            <a:solidFill>
              <a:srgbClr val="FFB84D">
                <a:alpha val="9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30768" y="1920240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ENSEMBL_TRANSCRIPT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" y="2971800"/>
            <a:ext cx="2926080" cy="621792"/>
          </a:xfrm>
          <a:prstGeom prst="roundRect">
            <a:avLst>
              <a:gd name="adj" fmla="val 17647"/>
            </a:avLst>
          </a:prstGeom>
          <a:solidFill>
            <a:srgbClr val="0D1E31"/>
          </a:solidFill>
          <a:ln w="15240">
            <a:solidFill>
              <a:srgbClr val="2EE5C0">
                <a:alpha val="9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3063240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ENSEMBL_GENE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0" y="2971800"/>
            <a:ext cx="2926080" cy="621792"/>
          </a:xfrm>
          <a:prstGeom prst="roundRect">
            <a:avLst>
              <a:gd name="adj" fmla="val 17647"/>
            </a:avLst>
          </a:prstGeom>
          <a:solidFill>
            <a:srgbClr val="0D1E31"/>
          </a:solidFill>
          <a:ln w="15240">
            <a:solidFill>
              <a:srgbClr val="5EE28D">
                <a:alpha val="92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81728" y="3063240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GENE_SYMBOL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321040" y="2971800"/>
            <a:ext cx="2926080" cy="621792"/>
          </a:xfrm>
          <a:prstGeom prst="roundRect">
            <a:avLst>
              <a:gd name="adj" fmla="val 17647"/>
            </a:avLst>
          </a:prstGeom>
          <a:solidFill>
            <a:srgbClr val="0D1E31"/>
          </a:solidFill>
          <a:ln w="15240">
            <a:solidFill>
              <a:srgbClr val="FF6B6B">
                <a:alpha val="9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30768" y="3063240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OTHER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97280" y="4846320"/>
            <a:ext cx="9966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Normalization strips graph suffixes, Ensembl version suffixes, and UniProt isoform suffixes before resolution.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2"/>
          </a:solidFill>
          <a:ln w="12700">
            <a:solidFill>
              <a:srgbClr val="08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24445F">
                <a:alpha val="90000"/>
              </a:srgbClr>
            </a:solidFill>
            <a:prstDash val="solid"/>
          </a:ln>
        </p:spPr>
      </p:sp>
      <p:pic>
        <p:nvPicPr>
          <p:cNvPr id="4" name="Image 0" descr="/mnt/data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75916"/>
            <a:ext cx="1993392" cy="74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638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İTU Bioinformatics Research Group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40080" y="6217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Offline mapping sources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58368" y="11704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uses shipped JSON edge tables — no network calls.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14400" y="182880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0D1E31"/>
          </a:solidFill>
          <a:ln w="15240">
            <a:solidFill>
              <a:srgbClr val="16A6D9">
                <a:alpha val="9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920240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BioMartSource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Ensembl/BioMart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663440" y="182880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0D1E31"/>
          </a:solidFill>
          <a:ln w="15240">
            <a:solidFill>
              <a:srgbClr val="2EE5C0">
                <a:alpha val="9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3168" y="1920240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HgncSource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HGNC mappings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412480" y="182880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0D1E31"/>
          </a:solidFill>
          <a:ln w="15240">
            <a:solidFill>
              <a:srgbClr val="5EE28D">
                <a:alpha val="9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22208" y="1920240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UniProtIdMappingSource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UniProt mappings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3246120" y="3730752"/>
            <a:ext cx="5669280" cy="1005840"/>
          </a:xfrm>
          <a:prstGeom prst="roundRect">
            <a:avLst>
              <a:gd name="adj" fmla="val 10909"/>
            </a:avLst>
          </a:prstGeom>
          <a:solidFill>
            <a:srgbClr val="0B1726"/>
          </a:solidFill>
          <a:ln w="15240">
            <a:solidFill>
              <a:srgbClr val="FFB84D">
                <a:alpha val="9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55848" y="3822192"/>
            <a:ext cx="5449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enhancement profiles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biomart · hgnc · uniprot · overall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057400" y="5166360"/>
            <a:ext cx="8138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default: overall — explore every source at each BFS hop.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2"/>
          </a:solidFill>
          <a:ln w="12700">
            <a:solidFill>
              <a:srgbClr val="08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24445F">
                <a:alpha val="90000"/>
              </a:srgbClr>
            </a:solidFill>
            <a:prstDash val="solid"/>
          </a:ln>
        </p:spPr>
      </p:sp>
      <p:pic>
        <p:nvPicPr>
          <p:cNvPr id="4" name="Image 0" descr="/mnt/data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75916"/>
            <a:ext cx="1993392" cy="74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638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İTU Bioinformatics Research Group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40080" y="6217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Multi-hop resolution to UniProt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58368" y="11704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Breadth-first search across offline sources until UniProt accessions are found.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" y="2011680"/>
            <a:ext cx="1554480" cy="685800"/>
          </a:xfrm>
          <a:prstGeom prst="roundRect">
            <a:avLst>
              <a:gd name="adj" fmla="val 16000"/>
            </a:avLst>
          </a:prstGeom>
          <a:solidFill>
            <a:srgbClr val="0D1E31"/>
          </a:solidFill>
          <a:ln w="15240">
            <a:solidFill>
              <a:srgbClr val="16A6D9">
                <a:alpha val="9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8408" y="210312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feature ID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063240" y="2011680"/>
            <a:ext cx="3474720" cy="685800"/>
          </a:xfrm>
          <a:prstGeom prst="roundRect">
            <a:avLst>
              <a:gd name="adj" fmla="val 16000"/>
            </a:avLst>
          </a:prstGeom>
          <a:solidFill>
            <a:srgbClr val="0D1E31"/>
          </a:solidFill>
          <a:ln w="15240">
            <a:solidFill>
              <a:srgbClr val="2EE5C0">
                <a:alpha val="9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72968" y="2103120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BioMart / HGNC / UniProt hops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178040" y="201168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0D1E31"/>
          </a:solidFill>
          <a:ln w="15240">
            <a:solidFill>
              <a:srgbClr val="5EE28D">
                <a:alpha val="9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87768" y="210312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UniProt accessions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012680" y="2011680"/>
            <a:ext cx="1463040" cy="685800"/>
          </a:xfrm>
          <a:prstGeom prst="roundRect">
            <a:avLst>
              <a:gd name="adj" fmla="val 16000"/>
            </a:avLst>
          </a:prstGeom>
          <a:solidFill>
            <a:srgbClr val="0D1E31"/>
          </a:solidFill>
          <a:ln w="15240">
            <a:solidFill>
              <a:srgbClr val="FFB84D">
                <a:alpha val="9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122408" y="210312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graph entities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468880" y="2359152"/>
            <a:ext cx="502920" cy="0"/>
          </a:xfrm>
          <a:prstGeom prst="line">
            <a:avLst/>
          </a:prstGeom>
          <a:noFill/>
          <a:ln w="21590">
            <a:solidFill>
              <a:srgbClr val="16A6D9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583680" y="2359152"/>
            <a:ext cx="502920" cy="0"/>
          </a:xfrm>
          <a:prstGeom prst="line">
            <a:avLst/>
          </a:prstGeom>
          <a:noFill/>
          <a:ln w="21590">
            <a:solidFill>
              <a:srgbClr val="2EE5C0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509760" y="2359152"/>
            <a:ext cx="411480" cy="0"/>
          </a:xfrm>
          <a:prstGeom prst="line">
            <a:avLst/>
          </a:prstGeom>
          <a:noFill/>
          <a:ln w="21590">
            <a:solidFill>
              <a:srgbClr val="5EE28D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2011680" y="3886200"/>
            <a:ext cx="81381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by max_depth, default 4</a:t>
            </a:r>
            <a:endParaRPr lang="en-US" sz="1500" dirty="0"/>
          </a:p>
          <a:p>
            <a:r>
              <a:rPr lang="en-US" sz="150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Visited identifier/type pairs are de-duplicated</a:t>
            </a:r>
            <a:endParaRPr lang="en-US" sz="1500" dirty="0"/>
          </a:p>
          <a:p>
            <a:r>
              <a:rPr lang="en-US" sz="150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Already-UniProt inputs short-circuit</a:t>
            </a:r>
            <a:endParaRPr lang="en-US" sz="1500" dirty="0"/>
          </a:p>
          <a:p>
            <a:r>
              <a:rPr lang="en-US" sz="150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path is stored for provenance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2"/>
          </a:solidFill>
          <a:ln w="12700">
            <a:solidFill>
              <a:srgbClr val="08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24445F">
                <a:alpha val="90000"/>
              </a:srgbClr>
            </a:solidFill>
            <a:prstDash val="solid"/>
          </a:ln>
        </p:spPr>
      </p:sp>
      <p:pic>
        <p:nvPicPr>
          <p:cNvPr id="4" name="Image 0" descr="/mnt/data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75916"/>
            <a:ext cx="1993392" cy="74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638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İTU Bioinformatics Research Group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40080" y="6217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attachment and sibling bridge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58368" y="11704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 synonymous in-network accessions when the direct accession is absent from the graph.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14400" y="1828800"/>
            <a:ext cx="2377440" cy="960120"/>
          </a:xfrm>
          <a:prstGeom prst="roundRect">
            <a:avLst>
              <a:gd name="adj" fmla="val 11429"/>
            </a:avLst>
          </a:prstGeom>
          <a:solidFill>
            <a:srgbClr val="0D1E31"/>
          </a:solidFill>
          <a:ln w="15240">
            <a:solidFill>
              <a:srgbClr val="FFB84D">
                <a:alpha val="9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9202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UniProtB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 data, not in graph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114800" y="1828800"/>
            <a:ext cx="2377440" cy="960120"/>
          </a:xfrm>
          <a:prstGeom prst="roundRect">
            <a:avLst>
              <a:gd name="adj" fmla="val 11429"/>
            </a:avLst>
          </a:prstGeom>
          <a:solidFill>
            <a:srgbClr val="0D1E31"/>
          </a:solidFill>
          <a:ln w="15240">
            <a:solidFill>
              <a:srgbClr val="2EE5C0">
                <a:alpha val="9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24528" y="19202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Ensembl gene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or gene symbol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315200" y="1828800"/>
            <a:ext cx="2377440" cy="960120"/>
          </a:xfrm>
          <a:prstGeom prst="roundRect">
            <a:avLst>
              <a:gd name="adj" fmla="val 11429"/>
            </a:avLst>
          </a:prstGeom>
          <a:solidFill>
            <a:srgbClr val="0D1E31"/>
          </a:solidFill>
          <a:ln w="15240">
            <a:solidFill>
              <a:srgbClr val="5EE28D">
                <a:alpha val="9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24928" y="19202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UniProtA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 graph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875520" y="1828800"/>
            <a:ext cx="1463040" cy="960120"/>
          </a:xfrm>
          <a:prstGeom prst="roundRect">
            <a:avLst>
              <a:gd name="adj" fmla="val 11429"/>
            </a:avLst>
          </a:prstGeom>
          <a:solidFill>
            <a:srgbClr val="0D1E31"/>
          </a:solidFill>
          <a:ln w="15240">
            <a:solidFill>
              <a:srgbClr val="16A6D9">
                <a:alpha val="9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985248" y="192024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valid graph node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337560" y="2304288"/>
            <a:ext cx="685800" cy="0"/>
          </a:xfrm>
          <a:prstGeom prst="line">
            <a:avLst/>
          </a:prstGeom>
          <a:noFill/>
          <a:ln w="2159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537960" y="2304288"/>
            <a:ext cx="685800" cy="0"/>
          </a:xfrm>
          <a:prstGeom prst="line">
            <a:avLst/>
          </a:prstGeom>
          <a:noFill/>
          <a:ln w="21590">
            <a:solidFill>
              <a:srgbClr val="2EE5C0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738360" y="2304288"/>
            <a:ext cx="91440" cy="0"/>
          </a:xfrm>
          <a:prstGeom prst="line">
            <a:avLst/>
          </a:prstGeom>
          <a:noFill/>
          <a:ln w="21590">
            <a:solidFill>
              <a:srgbClr val="5EE28D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1280160" y="4343400"/>
            <a:ext cx="96012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 hop types are intentionally limited to Ensembl gene and gene symbol to keep recovery interpretable.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2"/>
          </a:solidFill>
          <a:ln w="12700">
            <a:solidFill>
              <a:srgbClr val="08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24445F">
                <a:alpha val="90000"/>
              </a:srgbClr>
            </a:solidFill>
            <a:prstDash val="solid"/>
          </a:ln>
        </p:spPr>
      </p:sp>
      <p:pic>
        <p:nvPicPr>
          <p:cNvPr id="4" name="Image 0" descr="/mnt/data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75916"/>
            <a:ext cx="1993392" cy="74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638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İTU Bioinformatics Research Group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40080" y="6217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preparation outputs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58368" y="11704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top-level workflow creates a compact map plus a full provenance sidecar.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2834640" cy="1051560"/>
          </a:xfrm>
          <a:prstGeom prst="roundRect">
            <a:avLst>
              <a:gd name="adj" fmla="val 10435"/>
            </a:avLst>
          </a:prstGeom>
          <a:solidFill>
            <a:srgbClr val="0D1E31"/>
          </a:solidFill>
          <a:ln w="15240">
            <a:solidFill>
              <a:srgbClr val="16A6D9">
                <a:alpha val="9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8408" y="192024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feature_map.csv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canonical mapping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663440" y="1828800"/>
            <a:ext cx="2834640" cy="1051560"/>
          </a:xfrm>
          <a:prstGeom prst="roundRect">
            <a:avLst>
              <a:gd name="adj" fmla="val 10435"/>
            </a:avLst>
          </a:prstGeom>
          <a:solidFill>
            <a:srgbClr val="0D1E31"/>
          </a:solidFill>
          <a:ln w="15240">
            <a:solidFill>
              <a:srgbClr val="2EE5C0">
                <a:alpha val="9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3168" y="192024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feature_map_detailed.csv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full provenance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458200" y="1828800"/>
            <a:ext cx="2834640" cy="1051560"/>
          </a:xfrm>
          <a:prstGeom prst="roundRect">
            <a:avLst>
              <a:gd name="adj" fmla="val 10435"/>
            </a:avLst>
          </a:prstGeom>
          <a:solidFill>
            <a:srgbClr val="0D1E31"/>
          </a:solidFill>
          <a:ln w="15240">
            <a:solidFill>
              <a:srgbClr val="5EE28D">
                <a:alpha val="9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67928" y="192024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measured_entities.json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matched graph seeds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645920" y="4069080"/>
            <a:ext cx="88696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Loads universal graph from configured paths</a:t>
            </a:r>
            <a:endParaRPr lang="en-US" sz="1500" dirty="0"/>
          </a:p>
          <a:p>
            <a:r>
              <a:rPr lang="en-US" sz="150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only matrix headers for feature-column mapping</a:t>
            </a:r>
            <a:endParaRPr lang="en-US" sz="1500" dirty="0"/>
          </a:p>
          <a:p>
            <a:r>
              <a:rPr lang="en-US" sz="150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Ignores sample_id, diagnosis, label, and label_id columns</a:t>
            </a:r>
            <a:endParaRPr lang="en-US" sz="1500" dirty="0"/>
          </a:p>
          <a:p>
            <a:r>
              <a:rPr lang="en-US" sz="150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Honors omics-type overrides such as transcript.csv → gene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2"/>
          </a:solidFill>
          <a:ln w="12700">
            <a:solidFill>
              <a:srgbClr val="08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24445F">
                <a:alpha val="90000"/>
              </a:srgbClr>
            </a:solidFill>
            <a:prstDash val="solid"/>
          </a:ln>
        </p:spPr>
      </p:sp>
      <p:pic>
        <p:nvPicPr>
          <p:cNvPr id="4" name="Image 0" descr="/mnt/data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75916"/>
            <a:ext cx="1993392" cy="74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638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İTU Bioinformatics Research Group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40080" y="6217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Coverage metrics: two different questions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58368" y="11704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 dataset recall with network coverage.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143000" y="182880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0D1E31"/>
          </a:solidFill>
          <a:ln w="15240">
            <a:solidFill>
              <a:srgbClr val="16A6D9">
                <a:alpha val="9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52728" y="1920240"/>
            <a:ext cx="3712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From data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Mapped features ÷ input features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086600" y="182880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0D1E31"/>
          </a:solidFill>
          <a:ln w="15240">
            <a:solidFill>
              <a:srgbClr val="5EE28D">
                <a:alpha val="9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96328" y="1920240"/>
            <a:ext cx="3712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To network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Unique graph vertices hit ÷ eligible vertices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099048" y="1691640"/>
            <a:ext cx="0" cy="1828800"/>
          </a:xfrm>
          <a:prstGeom prst="line">
            <a:avLst/>
          </a:prstGeom>
          <a:noFill/>
          <a:ln w="15240">
            <a:solidFill>
              <a:srgbClr val="2444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71600" y="4297680"/>
            <a:ext cx="95097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both metrics to show whether the mapper is recovering the dataset well and how much of the biological graph is represented.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2"/>
          </a:solidFill>
          <a:ln w="12700">
            <a:solidFill>
              <a:srgbClr val="08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24445F">
                <a:alpha val="90000"/>
              </a:srgbClr>
            </a:solidFill>
            <a:prstDash val="solid"/>
          </a:ln>
        </p:spPr>
      </p:sp>
      <p:pic>
        <p:nvPicPr>
          <p:cNvPr id="4" name="Image 0" descr="/mnt/data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75916"/>
            <a:ext cx="1993392" cy="74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638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İTU Bioinformatics Research Group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40080" y="6217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invariants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58368" y="11704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that keep the mapper trustworthy.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" y="173736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D1E31"/>
          </a:solidFill>
          <a:ln w="15240">
            <a:solidFill>
              <a:srgbClr val="16A6D9">
                <a:alpha val="9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182880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Legacy-first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exact hits are authoritative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0" y="173736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D1E31"/>
          </a:solidFill>
          <a:ln w="15240">
            <a:solidFill>
              <a:srgbClr val="2EE5C0">
                <a:alpha val="9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81728" y="182880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 invented nodes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only existing vertices are attached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412480" y="173736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D1E31"/>
          </a:solidFill>
          <a:ln w="15240">
            <a:solidFill>
              <a:srgbClr val="5EE28D">
                <a:alpha val="9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22208" y="182880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One-to-many preserved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ambiguity remains visible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31520" y="324612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D1E31"/>
          </a:solidFill>
          <a:ln w="15240">
            <a:solidFill>
              <a:srgbClr val="FFB84D">
                <a:alpha val="9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333756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Per-column typing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mixed files are supported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72000" y="324612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D1E31"/>
          </a:solidFill>
          <a:ln w="15240">
            <a:solidFill>
              <a:srgbClr val="44C7F4">
                <a:alpha val="92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81728" y="333756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Offline &amp; deterministic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 network calls during recovery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412480" y="324612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D1E31"/>
          </a:solidFill>
          <a:ln w="15240">
            <a:solidFill>
              <a:srgbClr val="FF6B6B">
                <a:alpha val="9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22208" y="333756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Provenance kept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success and failure are explainable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2"/>
          </a:solidFill>
          <a:ln w="12700">
            <a:solidFill>
              <a:srgbClr val="08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24445F">
                <a:alpha val="90000"/>
              </a:srgbClr>
            </a:solidFill>
            <a:prstDash val="solid"/>
          </a:ln>
        </p:spPr>
      </p:sp>
      <p:pic>
        <p:nvPicPr>
          <p:cNvPr id="4" name="Image 0" descr="/mnt/data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75916"/>
            <a:ext cx="1993392" cy="74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638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İTU Bioinformatics Research Group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40080" y="6217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Known limitations and next steps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58368" y="11704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boundaries help guide future development.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60120" y="182880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0D1E31"/>
          </a:solidFill>
          <a:ln w="15240">
            <a:solidFill>
              <a:srgbClr val="FFB84D">
                <a:alpha val="9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9848" y="192024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ENST IDs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currently unrecoverable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709160" y="182880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0D1E31"/>
          </a:solidFill>
          <a:ln w="15240">
            <a:solidFill>
              <a:srgbClr val="FF6B6B">
                <a:alpha val="9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18888" y="192024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Metabolites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out of current graph scope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458200" y="182880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0D1E31"/>
          </a:solidFill>
          <a:ln w="15240">
            <a:solidFill>
              <a:srgbClr val="16A6D9">
                <a:alpha val="9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67928" y="192024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Graph build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coverage is version-dependent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005840" y="3977640"/>
            <a:ext cx="2926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next actions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05840" y="4407408"/>
            <a:ext cx="10058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ENST edge tables when transcript-level recovery becomes necessary</a:t>
            </a:r>
            <a:endParaRPr lang="en-US" sz="1500" dirty="0"/>
          </a:p>
          <a:p>
            <a:r>
              <a:rPr lang="en-US" sz="150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graph-build version in every mapping report</a:t>
            </a:r>
            <a:endParaRPr lang="en-US" sz="1500" dirty="0"/>
          </a:p>
          <a:p>
            <a:r>
              <a:rPr lang="en-US" sz="150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coverage outputs to compare legacy, optimized, and overall profiles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İTU Bioinformatics Research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Universal Graph Feature Mapper</dc:title>
  <dc:subject>Universal Graph Feature Mapper</dc:subject>
  <dc:creator>İTU Bioinformatics Research Group</dc:creator>
  <cp:lastModifiedBy>İTU Bioinformatics Research Group</cp:lastModifiedBy>
  <cp:revision>1</cp:revision>
  <dcterms:created xsi:type="dcterms:W3CDTF">2026-07-18T04:20:07Z</dcterms:created>
  <dcterms:modified xsi:type="dcterms:W3CDTF">2026-07-18T04:20:07Z</dcterms:modified>
</cp:coreProperties>
</file>